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art_ice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692640" y="6400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Multi-Asset Portfolio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32461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monthly-rebalanced ETF portfolio beat the S&amp;P 500 on risk-adjusted terms?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Proposal  ·  ML/AI Professional Certificate  ·  Javier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monthly-rebalanced, multi-asset ETF portfolio achieve better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returns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simply holding the S&amp;P 500?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472184" y="3886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balan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202" y="40302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4983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risk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44368" y="36576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93592" y="3886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40302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54096" y="4983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downside only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65776" y="365760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4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5715000" y="3886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18" y="40302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175504" y="4983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peak-to-trough fall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15200" y="16002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635240" y="19202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rout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545" y="207454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0" y="2029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635240" y="2834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beat the market in raw returns —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635240" y="36118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participate in long-term growth with lower volatility and controlled drawdowns.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of daily, dividend-adjusted prices for ~7 liquid ETFs — free public sources (yfinance, FRED)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845" y="24615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95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equity · international developed · energy · utilities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201168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25" y="24615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395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Treasuries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(recession airbag) · short-term (anchor)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coin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24615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395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hedge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a third, independent behavior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22960" y="470916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560" y="49834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291" y="511721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4956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stress indicators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82880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· VIX3M · Treasury yield-curve spread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309360" y="47091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6537960" y="49834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icons/bo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691" y="511721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4956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deliberately included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31520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aftermath · 2011 · 2018 · 2020 · 2022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 — a Monthly Decision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956816" cy="2331720"/>
          </a:xfrm>
          <a:prstGeom prst="roundRect">
            <a:avLst>
              <a:gd name="adj" fmla="val 4206"/>
            </a:avLst>
          </a:prstGeom>
          <a:solidFill>
            <a:srgbClr val="F4F7FC"/>
          </a:solidFill>
          <a:ln/>
        </p:spPr>
      </p:sp>
      <p:sp>
        <p:nvSpPr>
          <p:cNvPr id="4" name="Shape 2"/>
          <p:cNvSpPr/>
          <p:nvPr/>
        </p:nvSpPr>
        <p:spPr>
          <a:xfrm>
            <a:off x="1499616" y="205740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499616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96112" y="27889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returns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rolling window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08376" y="1828800"/>
            <a:ext cx="1956816" cy="2331720"/>
          </a:xfrm>
          <a:prstGeom prst="roundRect">
            <a:avLst>
              <a:gd name="adj" fmla="val 4206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3685032" y="205740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81528" y="27889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+ shrinkage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99816" y="347472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map, denoised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28616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93792" y="1828800"/>
            <a:ext cx="1956816" cy="2331720"/>
          </a:xfrm>
          <a:prstGeom prst="roundRect">
            <a:avLst>
              <a:gd name="adj" fmla="val 4206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870448" y="205740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870448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66944" y="27889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optimization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85232" y="347472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MinVar vs Risk Parity compete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1403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79208" y="1828800"/>
            <a:ext cx="1956816" cy="2331720"/>
          </a:xfrm>
          <a:prstGeom prst="roundRect">
            <a:avLst>
              <a:gd name="adj" fmla="val 4206"/>
            </a:avLst>
          </a:prstGeom>
          <a:solidFill>
            <a:srgbClr val="F4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8055864" y="205740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055864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27889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scaling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70648" y="347472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detector sets exposure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99448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564624" y="1828800"/>
            <a:ext cx="1956816" cy="2331720"/>
          </a:xfrm>
          <a:prstGeom prst="roundRect">
            <a:avLst>
              <a:gd name="adj" fmla="val 4206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41280" y="2057400"/>
            <a:ext cx="603504" cy="6035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10241280" y="20574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37776" y="27889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rebalance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656064" y="347472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transaction costs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4709160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" y="4956048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0" descr="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5153558"/>
            <a:ext cx="427939" cy="42793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148840" y="4892040"/>
            <a:ext cx="8915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discipline: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monthly decision uses only data available at that date — no lookahead, ever. Regime labels are written once and never retro-corrected.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Techniques and Their Role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600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1748333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— ACF &amp; Ljung-Box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51560" y="2331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weekly returns are exploitable or white noise, vs the persistence of squared returns (volatility).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51560" y="32186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direction ≈ noise → estimate risk, don't forecast returns.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600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clus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1748333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two uses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331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Cluster assets by co-movement: is diversification real? (b) Cluster months into regimes (calm / normal / stress) to scale exposure.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92240" y="32186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two questions.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388620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16" name="Shape 12"/>
          <p:cNvSpPr/>
          <p:nvPr/>
        </p:nvSpPr>
        <p:spPr>
          <a:xfrm>
            <a:off x="1051560" y="4114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93" y="4262933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1605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covariance (Ledoit-Wolf)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051560" y="4846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for matrices: noisy correlations shrunk toward their mean, intensity self-calibrated. Stabilizes the optimizer's input.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51560" y="57332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MinVar and Risk Parity weights.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88620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4114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icons/di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4262933"/>
            <a:ext cx="362102" cy="3621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1605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+ block bootstrap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492240" y="4846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discipline for time series, then significance testing of Sharpe differences vs SPY and 60/40.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492240" y="57332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real effects from sampling luck.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1679936"/>
            <a:ext cx="370881" cy="3708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50876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backtest, costs included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28800" y="1911096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20-year window, transaction costs on every rebalance — no frictionless fantasy.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68680" y="2715768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6" y="2886944"/>
            <a:ext cx="370881" cy="370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157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honest benchmarks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311810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buy &amp; hold and a classic 60/40 — judged on Sharpe, Sortino and max drawdown.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3922776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4093952"/>
            <a:ext cx="370881" cy="3708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922776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Per-crisis event studies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828800" y="43251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historical crisis: how much of the drawdown does the system avoid — and at what cost in calm periods?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68680" y="5129784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56" y="5300960"/>
            <a:ext cx="370881" cy="37088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28800" y="512978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828800" y="5532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Block-bootstrap confidence intervals on every performance difference: is it real, or sampling luck?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Expect to Learn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risk-based allocation plus data-driven regime detection genuinely improves risk-adjusted outcomes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whether simple benchmarks are statistically indistinguishable once costs and significance testing are applied.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515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5262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gr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47320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4389120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consider a rigorous negative finding as valuable an outcome as a positive one.”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Proposal · ML/AI Professional Certificate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2026-07-20T23:41:36Z</dcterms:created>
  <dcterms:modified xsi:type="dcterms:W3CDTF">2026-07-20T23:41:36Z</dcterms:modified>
</cp:coreProperties>
</file>